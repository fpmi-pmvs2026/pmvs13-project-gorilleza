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19BE9-CD74-4CE7-A83E-6C4368ABFA09}" v="2" dt="2026-05-26T13:59:50.897"/>
    <p1510:client id="{4BD3800E-01C8-46D7-BB0F-696E7EFA8EC9}" v="517" dt="2026-05-26T13:58:36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ru-RU" sz="48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Flag Quiz</a:t>
            </a:r>
            <a:br>
              <a:rPr lang="ru-RU" sz="48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</a:br>
            <a:r>
              <a:rPr lang="ru-RU" sz="48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Android-приложение для проверки знаний флагов стран</a:t>
            </a:r>
            <a:endParaRPr lang="ru-RU" sz="4800">
              <a:solidFill>
                <a:srgbClr val="FFFFFF"/>
              </a:solidFill>
              <a:latin typeface="Aptos Display" panose="020F0302020204030204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>
                <a:latin typeface="Times New Roman"/>
                <a:ea typeface="+mn-lt"/>
                <a:cs typeface="Times New Roman"/>
              </a:rPr>
              <a:t>Студент: Ходжамухаммедов Эзиз</a:t>
            </a:r>
            <a:br>
              <a:rPr lang="ru-RU">
                <a:latin typeface="Times New Roman"/>
                <a:ea typeface="+mn-lt"/>
                <a:cs typeface="Times New Roman"/>
              </a:rPr>
            </a:br>
            <a:r>
              <a:rPr lang="ru-RU">
                <a:latin typeface="Times New Roman"/>
                <a:ea typeface="+mn-lt"/>
                <a:cs typeface="Times New Roman"/>
              </a:rPr>
              <a:t>Группа: 13</a:t>
            </a:r>
            <a:br>
              <a:rPr lang="ru-RU">
                <a:latin typeface="Times New Roman"/>
                <a:ea typeface="+mn-lt"/>
                <a:cs typeface="Times New Roman"/>
              </a:rPr>
            </a:br>
            <a:r>
              <a:rPr lang="ru-RU">
                <a:latin typeface="Times New Roman"/>
                <a:ea typeface="+mn-lt"/>
                <a:cs typeface="Times New Roman"/>
              </a:rPr>
              <a:t>Дисциплина: ПМВС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D68F8-1EF9-E736-9E85-80C8CB8E9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ru-RU" sz="4000"/>
              <a:t> </a:t>
            </a:r>
            <a:r>
              <a:rPr lang="ru-RU" sz="4000">
                <a:latin typeface="Times New Roman"/>
                <a:cs typeface="Times New Roman"/>
              </a:rPr>
              <a:t>Цель и задачи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118F7-452D-307B-4D10-DBFA56CF6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000">
                <a:latin typeface="Times New Roman"/>
                <a:ea typeface="+mn-lt"/>
                <a:cs typeface="Times New Roman"/>
              </a:rPr>
              <a:t>Цель: Разработать Android-приложение-викторину по флагам стран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Задачи: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Отображение флага и вариантов ответов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Проверка правильности ответа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Анимация при ошибке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Подсчёт очков (10 вопросов)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Сохранение результатов в БД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Экран статистики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latin typeface="Times New Roman"/>
                <a:ea typeface="+mn-lt"/>
                <a:cs typeface="Times New Roman"/>
              </a:rPr>
              <a:t>UI и модульные тесты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14593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C36BD-82EF-1153-6DAC-C01132A6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ru-RU">
                <a:latin typeface="Times New Roman"/>
                <a:cs typeface="Times New Roman"/>
              </a:rPr>
              <a:t>Технологии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F24A692-C63C-848F-F6BC-F6C6EC41A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226100"/>
              </p:ext>
            </p:extLst>
          </p:nvPr>
        </p:nvGraphicFramePr>
        <p:xfrm>
          <a:off x="857536" y="1926266"/>
          <a:ext cx="10476929" cy="435752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953791">
                  <a:extLst>
                    <a:ext uri="{9D8B030D-6E8A-4147-A177-3AD203B41FA5}">
                      <a16:colId xmlns:a16="http://schemas.microsoft.com/office/drawing/2014/main" val="2537743317"/>
                    </a:ext>
                  </a:extLst>
                </a:gridCol>
                <a:gridCol w="5523138">
                  <a:extLst>
                    <a:ext uri="{9D8B030D-6E8A-4147-A177-3AD203B41FA5}">
                      <a16:colId xmlns:a16="http://schemas.microsoft.com/office/drawing/2014/main" val="2465793297"/>
                    </a:ext>
                  </a:extLst>
                </a:gridCol>
              </a:tblGrid>
              <a:tr h="64459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7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Компонент</a:t>
                      </a:r>
                    </a:p>
                  </a:txBody>
                  <a:tcPr marL="0" marR="253443" marT="30413" marB="15206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7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Технология</a:t>
                      </a:r>
                    </a:p>
                  </a:txBody>
                  <a:tcPr marL="0" marR="253443" marT="30413" marB="152066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668693"/>
                  </a:ext>
                </a:extLst>
              </a:tr>
              <a:tr h="61882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Язык</a:t>
                      </a:r>
                    </a:p>
                  </a:txBody>
                  <a:tcPr marL="0" marR="253443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Java</a:t>
                      </a:r>
                    </a:p>
                  </a:txBody>
                  <a:tcPr marL="0" marR="152066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961075"/>
                  </a:ext>
                </a:extLst>
              </a:tr>
              <a:tr h="61882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ОС</a:t>
                      </a:r>
                    </a:p>
                  </a:txBody>
                  <a:tcPr marL="0" marR="253443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Android 6.0+ (API 23)</a:t>
                      </a:r>
                    </a:p>
                  </a:txBody>
                  <a:tcPr marL="0" marR="152066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558105"/>
                  </a:ext>
                </a:extLst>
              </a:tr>
              <a:tr h="61882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БД</a:t>
                      </a:r>
                    </a:p>
                  </a:txBody>
                  <a:tcPr marL="0" marR="253443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SQLite</a:t>
                      </a:r>
                    </a:p>
                  </a:txBody>
                  <a:tcPr marL="0" marR="152066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451810"/>
                  </a:ext>
                </a:extLst>
              </a:tr>
              <a:tr h="61882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UI-тесты</a:t>
                      </a:r>
                    </a:p>
                  </a:txBody>
                  <a:tcPr marL="0" marR="253443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Espresso</a:t>
                      </a:r>
                    </a:p>
                  </a:txBody>
                  <a:tcPr marL="0" marR="152066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030957"/>
                  </a:ext>
                </a:extLst>
              </a:tr>
              <a:tr h="61882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Модульные тесты</a:t>
                      </a:r>
                    </a:p>
                  </a:txBody>
                  <a:tcPr marL="0" marR="253443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JUnit</a:t>
                      </a:r>
                    </a:p>
                  </a:txBody>
                  <a:tcPr marL="0" marR="152066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1809"/>
                  </a:ext>
                </a:extLst>
              </a:tr>
              <a:tr h="61882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Git</a:t>
                      </a:r>
                    </a:p>
                  </a:txBody>
                  <a:tcPr marL="0" marR="253443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 cap="none" spc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GitHub</a:t>
                      </a:r>
                    </a:p>
                  </a:txBody>
                  <a:tcPr marL="0" marR="152066" marT="45620" marB="15206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83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65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CC475-BC92-31E0-2CAB-A4A9DE3F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 sz="4100">
                <a:solidFill>
                  <a:srgbClr val="FFFFFF"/>
                </a:solidFill>
                <a:latin typeface="Times New Roman"/>
                <a:cs typeface="Times New Roman"/>
              </a:rPr>
              <a:t> Архитектура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BDA5E7-F80A-0081-EF64-B4EF6A2C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MainActivity</a:t>
            </a: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 └── MainActivityFragment</a:t>
            </a: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         ├── Загрузка флагов из assets</a:t>
            </a: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         ├── Генерация вариантов ответов</a:t>
            </a: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         ├── Проверка ответов</a:t>
            </a: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         ├── Анимация при ошибке</a:t>
            </a: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         └── Сохранение в БД</a:t>
            </a:r>
          </a:p>
          <a:p>
            <a:pPr>
              <a:buNone/>
            </a:pPr>
            <a:endParaRPr lang="ru-RU" dirty="0"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StatsActivity</a:t>
            </a:r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    └── Чтение из БД → отображение статистики</a:t>
            </a:r>
          </a:p>
        </p:txBody>
      </p:sp>
    </p:spTree>
    <p:extLst>
      <p:ext uri="{BB962C8B-B14F-4D97-AF65-F5344CB8AC3E}">
        <p14:creationId xmlns:p14="http://schemas.microsoft.com/office/powerpoint/2010/main" val="2692530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72131-3A31-CEAD-61AA-6E566B264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0000"/>
                </a:solidFill>
                <a:latin typeface="Times New Roman"/>
                <a:cs typeface="Times New Roman"/>
              </a:rPr>
              <a:t>База данных (SQLite)</a:t>
            </a:r>
            <a:endParaRPr lang="ru-RU">
              <a:latin typeface="Times New Roman"/>
              <a:cs typeface="Times New Roman"/>
            </a:endParaRP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4C605EB-6712-9938-393A-FDD3A8756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44919"/>
              </p:ext>
            </p:extLst>
          </p:nvPr>
        </p:nvGraphicFramePr>
        <p:xfrm>
          <a:off x="838200" y="1578490"/>
          <a:ext cx="10667457" cy="53569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55819">
                  <a:extLst>
                    <a:ext uri="{9D8B030D-6E8A-4147-A177-3AD203B41FA5}">
                      <a16:colId xmlns:a16="http://schemas.microsoft.com/office/drawing/2014/main" val="480671162"/>
                    </a:ext>
                  </a:extLst>
                </a:gridCol>
                <a:gridCol w="3555819">
                  <a:extLst>
                    <a:ext uri="{9D8B030D-6E8A-4147-A177-3AD203B41FA5}">
                      <a16:colId xmlns:a16="http://schemas.microsoft.com/office/drawing/2014/main" val="380216064"/>
                    </a:ext>
                  </a:extLst>
                </a:gridCol>
                <a:gridCol w="3555819">
                  <a:extLst>
                    <a:ext uri="{9D8B030D-6E8A-4147-A177-3AD203B41FA5}">
                      <a16:colId xmlns:a16="http://schemas.microsoft.com/office/drawing/2014/main" val="3657530980"/>
                    </a:ext>
                  </a:extLst>
                </a:gridCol>
              </a:tblGrid>
              <a:tr h="840240"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  <a:latin typeface="Times New Roman"/>
                          <a:cs typeface="Times New Roman"/>
                        </a:rPr>
                        <a:t>Таблица GAMES</a:t>
                      </a:r>
                    </a:p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endParaRPr lang="ru-RU" sz="2000" b="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endParaRPr lang="ru-RU" sz="2000" b="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endParaRPr lang="ru-RU" sz="2000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404525"/>
                  </a:ext>
                </a:extLst>
              </a:tr>
              <a:tr h="8402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endParaRPr lang="ru-RU" sz="950" b="0" dirty="0">
                        <a:effectLst/>
                        <a:latin typeface="Menlo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723909"/>
                  </a:ext>
                </a:extLst>
              </a:tr>
              <a:tr h="8402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endParaRPr lang="ru-RU" sz="950" b="0" dirty="0">
                        <a:effectLst/>
                        <a:latin typeface="Menlo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699647"/>
                  </a:ext>
                </a:extLst>
              </a:tr>
              <a:tr h="8402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endParaRPr lang="ru-RU" sz="950" b="0" dirty="0">
                        <a:effectLst/>
                        <a:latin typeface="Menlo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862433"/>
                  </a:ext>
                </a:extLst>
              </a:tr>
              <a:tr h="8402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endParaRPr lang="ru-RU" sz="950" b="0" dirty="0">
                        <a:effectLst/>
                        <a:latin typeface="Menlo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430068"/>
                  </a:ext>
                </a:extLst>
              </a:tr>
              <a:tr h="8402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endParaRPr lang="ru-RU" sz="950" b="0" dirty="0">
                        <a:effectLst/>
                        <a:latin typeface="Menlo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ru-RU" sz="11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108800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C35403C-DBC3-75AC-5FA1-83AFBDB0A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93226"/>
              </p:ext>
            </p:extLst>
          </p:nvPr>
        </p:nvGraphicFramePr>
        <p:xfrm>
          <a:off x="1081215" y="2296297"/>
          <a:ext cx="9551631" cy="35732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83877">
                  <a:extLst>
                    <a:ext uri="{9D8B030D-6E8A-4147-A177-3AD203B41FA5}">
                      <a16:colId xmlns:a16="http://schemas.microsoft.com/office/drawing/2014/main" val="1571041802"/>
                    </a:ext>
                  </a:extLst>
                </a:gridCol>
                <a:gridCol w="3183877">
                  <a:extLst>
                    <a:ext uri="{9D8B030D-6E8A-4147-A177-3AD203B41FA5}">
                      <a16:colId xmlns:a16="http://schemas.microsoft.com/office/drawing/2014/main" val="684328680"/>
                    </a:ext>
                  </a:extLst>
                </a:gridCol>
                <a:gridCol w="3183877">
                  <a:extLst>
                    <a:ext uri="{9D8B030D-6E8A-4147-A177-3AD203B41FA5}">
                      <a16:colId xmlns:a16="http://schemas.microsoft.com/office/drawing/2014/main" val="3226310081"/>
                    </a:ext>
                  </a:extLst>
                </a:gridCol>
              </a:tblGrid>
              <a:tr h="59554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Поле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Тип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Описание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667729"/>
                  </a:ext>
                </a:extLst>
              </a:tr>
              <a:tr h="59554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_id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INTEGER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ID записи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06908"/>
                  </a:ext>
                </a:extLst>
              </a:tr>
              <a:tr h="59554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score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INTEGER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Правильных ответов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206730"/>
                  </a:ext>
                </a:extLst>
              </a:tr>
              <a:tr h="59554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INTEGER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10 вопросов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412738"/>
                  </a:ext>
                </a:extLst>
              </a:tr>
              <a:tr h="59554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percent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REAL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% правильных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8518"/>
                  </a:ext>
                </a:extLst>
              </a:tr>
              <a:tr h="595549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date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TEXT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i="0">
                          <a:solidFill>
                            <a:srgbClr val="F9FAFB"/>
                          </a:solidFill>
                          <a:effectLst/>
                          <a:latin typeface="Times New Roman"/>
                          <a:cs typeface="Times New Roman"/>
                        </a:rPr>
                        <a:t>Дата игры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5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10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7E2A1-95C5-D0B7-B2AE-44C8D60DD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latin typeface="Times New Roman"/>
                <a:cs typeface="Times New Roman"/>
              </a:rPr>
              <a:t>Анимация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DB3F0B-4B46-958E-C117-FD4585AD4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Файл: </a:t>
            </a:r>
            <a:r>
              <a:rPr lang="ru-RU">
                <a:latin typeface="Times New Roman"/>
                <a:cs typeface="Times New Roman"/>
              </a:rPr>
              <a:t>incorrect_shake.xml</a:t>
            </a:r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Длительность: 300 мс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Флаг смещается влево-вправо на ±5%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При неправильном ответе анимация запускается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Кнопка неправильного ответа блокируется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952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ED137-B40C-A81C-67F1-5501FE347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latin typeface="Times New Roman"/>
                <a:cs typeface="Times New Roman"/>
              </a:rPr>
              <a:t>Тесты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19B18A-B51F-C14C-136D-C3D429F5E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ru-RU">
              <a:latin typeface="Times New Roman"/>
              <a:ea typeface="+mn-lt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Модульные тесты (JUnit) — 5 шт.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Извлечение названия страны из имени файла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Расчёт процента правильных ответов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UI-тесты (Espresso) — 6 шт.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Проверка отображения экрана, флага, кнопок, текста</a:t>
            </a:r>
            <a:endParaRPr lang="ru-RU"/>
          </a:p>
          <a:p>
            <a:pPr marL="0" indent="0">
              <a:buNone/>
            </a:pPr>
            <a:endParaRPr lang="ru-RU" dirty="0">
              <a:latin typeface="Times New Roman"/>
              <a:ea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308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72A6AC3-A5EB-4E50-B460-8B0A428F3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44343-A20D-D17B-53BC-3EC6F76A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2057044"/>
            <a:ext cx="9792469" cy="1293788"/>
          </a:xfrm>
        </p:spPr>
        <p:txBody>
          <a:bodyPr anchor="ctr">
            <a:normAutofit/>
          </a:bodyPr>
          <a:lstStyle/>
          <a:p>
            <a:pPr algn="ctr"/>
            <a:r>
              <a:rPr lang="ru-RU" sz="4000">
                <a:latin typeface="Times New Roman"/>
                <a:cs typeface="Times New Roman"/>
              </a:rPr>
              <a:t>Результат игры</a:t>
            </a:r>
          </a:p>
        </p:txBody>
      </p:sp>
      <p:pic>
        <p:nvPicPr>
          <p:cNvPr id="4" name="Рисунок 3" descr="Изображение выглядит как Шрифт, текст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A312C1-C1E2-FE05-57FE-1F5F317F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182" y="694552"/>
            <a:ext cx="3329998" cy="1484436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5F08F195-EDDA-A2BE-C4F0-F5D22FE04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3514855"/>
            <a:ext cx="9792469" cy="26065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ru-RU" sz="2000">
                <a:latin typeface="Times New Roman"/>
                <a:ea typeface="+mn-lt"/>
                <a:cs typeface="Times New Roman"/>
              </a:rPr>
              <a:t>После 10 вопросов:</a:t>
            </a:r>
          </a:p>
          <a:p>
            <a:pPr marL="0" indent="0" algn="ctr">
              <a:buNone/>
            </a:pPr>
            <a:endParaRPr lang="ru-RU" sz="200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ru-RU" sz="2000">
                <a:latin typeface="Times New Roman"/>
                <a:cs typeface="Times New Roman"/>
              </a:rPr>
              <a:t>Quiz complete!
Score: 7/10 (70.0%)</a:t>
            </a:r>
          </a:p>
          <a:p>
            <a:pPr marL="0" indent="0" algn="ctr">
              <a:buNone/>
            </a:pPr>
            <a:endParaRPr lang="ru-RU" sz="2000">
              <a:latin typeface="Times New Roman"/>
              <a:ea typeface="+mn-lt"/>
              <a:cs typeface="Times New Roman"/>
            </a:endParaRPr>
          </a:p>
          <a:p>
            <a:pPr marL="0" indent="0" algn="ctr">
              <a:buNone/>
            </a:pPr>
            <a:r>
              <a:rPr lang="ru-RU" sz="2000">
                <a:latin typeface="Times New Roman"/>
                <a:ea typeface="+mn-lt"/>
                <a:cs typeface="Times New Roman"/>
              </a:rPr>
              <a:t>Результат автоматически сохраняется в SQLite.</a:t>
            </a:r>
            <a:endParaRPr lang="ru-RU" sz="2000">
              <a:latin typeface="Times New Roman"/>
              <a:cs typeface="Times New Roman"/>
            </a:endParaRPr>
          </a:p>
          <a:p>
            <a:pPr marL="0" indent="0" algn="ctr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337658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458D3-56C9-97AD-5150-E459F4A5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ru-RU">
                <a:latin typeface="Times New Roman"/>
                <a:cs typeface="Times New Roman"/>
              </a:rPr>
              <a:t>Экран статистики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текст, снимок экрана, дисплей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87EAF9-D7FD-5B64-1E0D-16167011A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740651"/>
            <a:ext cx="4777381" cy="520695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00A843AC-E30A-C20F-3B2C-63AF02DC2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Открывается через меню (три точки)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Показывает историю всех игр: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Счёт (7/10)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Процент (70%)</a:t>
            </a:r>
            <a:endParaRPr lang="ru-RU"/>
          </a:p>
          <a:p>
            <a:pPr marL="0" indent="0">
              <a:buNone/>
            </a:pPr>
            <a:r>
              <a:rPr lang="ru-RU">
                <a:latin typeface="Times New Roman"/>
                <a:ea typeface="+mn-lt"/>
                <a:cs typeface="Times New Roman"/>
              </a:rPr>
              <a:t>Дата и время</a:t>
            </a:r>
            <a:endParaRPr lang="ru-RU"/>
          </a:p>
          <a:p>
            <a:pPr marL="0" indent="0">
              <a:buNone/>
            </a:pP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6902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CB618A-2C88-E45D-CF89-71C40ECF1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ru-RU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0456D5-4A47-9F7C-F664-D312485BA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>
                <a:latin typeface="Times New Roman"/>
                <a:cs typeface="Times New Roman"/>
              </a:rPr>
              <a:t>Спасибо за внимание!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898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Flag Quiz Android-приложение для проверки знаний флагов стран</vt:lpstr>
      <vt:lpstr> Цель и задачи</vt:lpstr>
      <vt:lpstr>Технологии</vt:lpstr>
      <vt:lpstr> Архитектура</vt:lpstr>
      <vt:lpstr>База данных (SQLite)</vt:lpstr>
      <vt:lpstr>Анимация</vt:lpstr>
      <vt:lpstr>Тесты</vt:lpstr>
      <vt:lpstr>Результат игры</vt:lpstr>
      <vt:lpstr>Экран статистики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107</cp:revision>
  <dcterms:created xsi:type="dcterms:W3CDTF">2026-05-26T13:40:22Z</dcterms:created>
  <dcterms:modified xsi:type="dcterms:W3CDTF">2026-05-26T14:00:13Z</dcterms:modified>
</cp:coreProperties>
</file>